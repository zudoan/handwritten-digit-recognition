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5A2EB"/>
                </a:solidFill>
              </a:defRPr>
            </a:pPr>
            <a:r>
              <a:t>TRƯỜNG ĐẠI HỌC THỦY LỢI — KHOA CÔNG NGHỆ THÔNG TIN</a:t>
            </a:r>
          </a:p>
          <a:p>
            <a:pPr>
              <a:defRPr sz="1800" b="1">
                <a:solidFill>
                  <a:srgbClr val="646464"/>
                </a:solidFill>
              </a:defRPr>
            </a:pPr>
            <a:r>
              <a:t>BÁO CÁO BÀI TẬP LỚN CUỐI KỲ — MÔN NHẬN DẠNG MẪU</a:t>
            </a:r>
          </a:p>
          <a:p>
            <a:pPr>
              <a:defRPr sz="3000" b="1">
                <a:solidFill>
                  <a:srgbClr val="102C57"/>
                </a:solidFill>
              </a:defRPr>
            </a:pPr>
            <a:r>
              <a:t>ĐỀ TÀI 1: NHẬN DẠNG CHỮ SỐ VIẾT TAY (MNIST DATASET)</a:t>
            </a:r>
          </a:p>
          <a:p>
            <a:br/>
            <a:pPr>
              <a:defRPr sz="1500">
                <a:solidFill>
                  <a:srgbClr val="1E1E1E"/>
                </a:solidFill>
              </a:defRPr>
            </a:pPr>
            <a:r>
              <a:t>Nhóm thực hiện: Nhóm 03 | Lớp: K63/K64 CNTT | GVHD: TS. [Họ và tên Giảng viên]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A2EB"/>
                </a:solidFill>
              </a:defRPr>
            </a:pPr>
            <a:r>
              <a:t>MÔN NHẬN DẠNG MẪU — NHÓM 03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BỐI CẢNH ỨNG DỤNG &amp; CÂU HỎI NGHIÊN CỨU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Bối cảnh thực tiễn:</a:t>
            </a:r>
          </a:p>
          <a:p>
            <a:r>
              <a:t>   - Nhận diện mã bưu chính (ZIP codes) tự động trong phân luồng bưu phẩm.</a:t>
            </a:r>
          </a:p>
          <a:p>
            <a:r>
              <a:t>   - Tự động hóa xử lý chứng từ kế toán, séc ngân hàng và biểu mẫu thi trắc nghiệm.</a:t>
            </a:r>
          </a:p>
          <a:p/>
          <a:p>
            <a:r>
              <a:t>• Thách thức kỹ thuật cốt lõi:</a:t>
            </a:r>
          </a:p>
          <a:p>
            <a:r>
              <a:t>   - Sự đa dạng nội lớp lớn do phong cách viết tay cá nhân (nét nghiêng, độ dày, đứt nét).</a:t>
            </a:r>
          </a:p>
          <a:p>
            <a:r>
              <a:t>   - Sự tương đồng hình thái học thị giác cao: Cặp số (4 - 9), (3 - 5), (7 - 1).</a:t>
            </a:r>
          </a:p>
          <a:p/>
          <a:p>
            <a:r>
              <a:t>• Ba câu hỏi nghiên cứu trọng tâm (RQs):</a:t>
            </a:r>
          </a:p>
          <a:p>
            <a:r>
              <a:t>   RQ1: Biểu diễn đặc trưng nào (Raw, Deskew, PCA, HOG, Deskew+PCA) tối ưu cho ML truyền thống?</a:t>
            </a:r>
          </a:p>
          <a:p>
            <a:r>
              <a:t>   RQ2: Trong cùng điều kiện kiểm chuẩn 10k mẫu, thuật toán kinh điển nào phân lớp tốt nhất?</a:t>
            </a:r>
          </a:p>
          <a:p>
            <a:r>
              <a:t>   RQ3: Khi mở rộng quy mô 60k mẫu, Modern CNN thể hiện ưu thế vượt trội như thế nào?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A2EB"/>
                </a:solidFill>
              </a:defRPr>
            </a:pPr>
            <a:r>
              <a:t>MÔN NHẬN DẠNG MẪU — NHÓM 03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BỘ DỮ LIỆU CHUẨN MNIST &amp; ĐỘ CÂN BẰNG PHÂN BỐ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Quy mô dữ liệu: 70,000 ảnh xám kích thước 28x28 (784 chiều).</a:t>
            </a:r>
          </a:p>
          <a:p>
            <a:r>
              <a:t>• Phân chia độc lập chuẩn học thuật:</a:t>
            </a:r>
          </a:p>
          <a:p>
            <a:r>
              <a:t>   - Tập Huấn luyện (Train): 60,000 mẫu (~85.7%)</a:t>
            </a:r>
          </a:p>
          <a:p>
            <a:r>
              <a:t>   - Tập Kiểm thử (Test): 10,000 mẫu (~14.3%)</a:t>
            </a:r>
          </a:p>
          <a:p/>
          <a:p>
            <a:r>
              <a:t>• Phân tích cân bằng dữ liệu thực nghiệm:</a:t>
            </a:r>
          </a:p>
          <a:p>
            <a:r>
              <a:t>   - Lớp 1 nhiều nhất: 6,742 mẫu (11.24%)</a:t>
            </a:r>
          </a:p>
          <a:p>
            <a:r>
              <a:t>   - Lớp 5 ít nhất: 5,421 mẫu (9.04%)</a:t>
            </a:r>
          </a:p>
          <a:p>
            <a:r>
              <a:t>   - Shannon Entropy thực tế: H = 3.3199 bits (Cực đại lý thuyết: 3.3219 bits)</a:t>
            </a:r>
          </a:p>
          <a:p>
            <a:r>
              <a:t>   - Tỷ lệ cân bằng: 99.94% (Dữ liệu cân bằng hoàn hảo, không bị lệch lớp).</a:t>
            </a:r>
          </a:p>
        </p:txBody>
      </p:sp>
      <p:pic>
        <p:nvPicPr>
          <p:cNvPr id="4" name="Picture 3" descr="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A2EB"/>
                </a:solidFill>
              </a:defRPr>
            </a:pPr>
            <a:r>
              <a:t>MÔN NHẬN DẠNG MẪU — NHÓM 03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CÁC PHƯƠNG PHÁP BIỂU DIỄN ĐẶC TRƯNG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Raw Pixels (784 chiều): Điểm ảnh chuẩn hóa [0.0, 1.0].</a:t>
            </a:r>
          </a:p>
          <a:p/>
          <a:p>
            <a:r>
              <a:t>2. Deskewing (Nắn thẳng góc nghiêng):</a:t>
            </a:r>
          </a:p>
          <a:p>
            <a:r>
              <a:t>   - Tính mô-men trung tâm mu_11 / mu_02 để xác định độ nghiêng nét bút.</a:t>
            </a:r>
          </a:p>
          <a:p>
            <a:r>
              <a:t>   - Áp dụng biến đổi Affine shear đưa chữ số về phương thẳng đứng.</a:t>
            </a:r>
          </a:p>
          <a:p/>
          <a:p>
            <a:r>
              <a:t>3. PCA (Giảm chiều thành phần chính):</a:t>
            </a:r>
          </a:p>
          <a:p>
            <a:r>
              <a:t>   - Tập 60k: 154 chiều | Tập 10k: 152 chiều | Deskew 10k: 112 chiều.</a:t>
            </a:r>
          </a:p>
          <a:p>
            <a:r>
              <a:t>   - Giữ nguyên 95% phương sai thông tin, lọc bỏ nhiễu biên.</a:t>
            </a:r>
          </a:p>
          <a:p/>
          <a:p>
            <a:r>
              <a:t>4. HOG (Histogram of Oriented Gradients):</a:t>
            </a:r>
          </a:p>
          <a:p>
            <a:r>
              <a:t>   - Trích xuất 324 chiều đặc trưng hướng viền và nét chữ.</a:t>
            </a:r>
          </a:p>
        </p:txBody>
      </p:sp>
      <p:pic>
        <p:nvPicPr>
          <p:cNvPr id="4" name="Picture 3" descr="04_deskew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22144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A2EB"/>
                </a:solidFill>
              </a:defRPr>
            </a:pPr>
            <a:r>
              <a:t>MÔN NHẬN DẠNG MẪU — NHÓM 03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ĐỐI CHUẨN ĐẶC TRƯNG — NHÓM A (SVM RBF TRÊN 10K MẪU)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6858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Biểu diễn đặc trưng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Số chiều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Số ảnh sai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Độ trễ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Deskewed + PCA (112D)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97.97%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203 / 10k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0.685 ms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Deskewed Raw (784D)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97.77%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223 / 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2.140 ms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HOG Features (324D)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242 / 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1.120 ms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PCA Compression (152D)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97.22%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278 / 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0.820 ms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Raw Pixels (784D)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96.86%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314 / 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2.180 ms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Nhận xét phân tích đặc trưng (RQ1):</a:t>
            </a:r>
          </a:p>
          <a:p/>
          <a:p>
            <a:r>
              <a:t>1. Deskewed + PCA 112D dẫn đầu tuyệt đối nhóm A (97.97%, chỉ sai 203 ảnh).</a:t>
            </a:r>
          </a:p>
          <a:p/>
          <a:p>
            <a:r>
              <a:t>2. Kỹ thuật nắn thẳng góc nghiêng triệt tiêu biến thiên do thói quen viết tay, cô đọng 95% phương sai chỉ trong 112 chiều (so với 152D của ảnh thô).</a:t>
            </a:r>
          </a:p>
          <a:p/>
          <a:p>
            <a:r>
              <a:t>3. Giảm 35.3% số ảnh sai so với ảnh thô (từ 314 xuống 203 lỗi), đồng thời tăng tốc độ suy luận gấp 3.2 lần (0.685 ms vs 2.180 ms).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A2EB"/>
                </a:solidFill>
              </a:defRPr>
            </a:pPr>
            <a:r>
              <a:t>MÔN NHẬN DẠNG MẪU — NHÓM 03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ĐỐI CHUẨN THUẬT TOÁN KINH ĐIỂN — NHÓM B (RAW PIXELS 10K)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6858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963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Thuật toán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Siêu tham số tối ưu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Số ảnh sai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Độ trễ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SVM (RBF Kernel)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C=5.0, gamma=scale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96.86%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314 / 10k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2.180 ms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Random Forest (150 cây)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n_est=150, depth=None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95.28%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472 / 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1.180 ms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k-NN (k=3, Euclidean)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k=3, weights=uniform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95.17%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483 / 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14.250 ms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Linear SVM (C=0.01)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C=0.01 (dual=False)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90.79%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921 / 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0.150 ms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Bernoulli 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binarize=0.5, a=1.0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84.40%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1,560 / 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0.080 ms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Gaussian 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var_smoothing=1e-9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55.80%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4,420 / 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0.120 ms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Nhận xét phân tích thuật toán (RQ2):</a:t>
            </a:r>
          </a:p>
          <a:p/>
          <a:p>
            <a:r>
              <a:t>1. SVM nhân RBF dẫn đầu trên ảnh thô (96.86%) nhờ không gian Hilbert vô hạn chiều phân tách phi tuyến.</a:t>
            </a:r>
          </a:p>
          <a:p/>
          <a:p>
            <a:r>
              <a:t>2. Random Forest 150 cây (95.28%) vượt qua k-NN (95.17%) và có tốc độ suy luận nhanh hơn 12 lần.</a:t>
            </a:r>
          </a:p>
          <a:p/>
          <a:p>
            <a:r>
              <a:t>3. Linear SVM C=0.01 đạt 90.79% (tăng 1.45% so với C=1.0) và đạt tốc độ nhanh kỷ lục 0.150 ms/ảnh.</a:t>
            </a:r>
          </a:p>
          <a:p/>
          <a:p>
            <a:r>
              <a:t>4. Naive Bayes kém nhất do giả định độc lập điểm ảnh bị vi phạm nặng nề trong ảnh 2D.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A2EB"/>
                </a:solidFill>
              </a:defRPr>
            </a:pPr>
            <a:r>
              <a:t>MÔN NHẬN DẠNG MẪU — NHÓM 03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QUY MÔ DỮ LIỆU &amp; ƯU THẾ CỦA DEEP LEARNING (NHÓM C)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6858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Mô hình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Quy mô dữ liệu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Số ảnh sai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Độ trễ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Modern CNN Baseline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Full 60,000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99.19%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81 / 10k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0.516 ms</a:t>
                      </a:r>
                    </a:p>
                  </a:txBody>
                  <a:tcPr>
                    <a:solidFill>
                      <a:srgbClr val="DCF5E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Modern CNN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50k train / 10k 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99.00%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100 / 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0.516 ms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SVM RBF + PCA (154D)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Full 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98.54%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146 / 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1.250 ms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Modern CNN (sub10k)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Subset 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97.60%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240 / 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0.516 ms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k-NN (k=3) + PCA (154D)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Full 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97.31%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269 / 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t>68.500 ms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Nhận xét phân tích quy mô &amp; CNN (RQ3):</a:t>
            </a:r>
          </a:p>
          <a:p/>
          <a:p>
            <a:r>
              <a:t>1. Modern CNN Baseline đạt 99.19% (chỉ 81 ảnh sai / 10k test), khẳng định ưu thế vượt trội của học sâu tự động trích xuất biểu diễn.</a:t>
            </a:r>
          </a:p>
          <a:p/>
          <a:p>
            <a:r>
              <a:t>2. Modern CNN Validation đạt 99.00% (sai 100 ảnh), minh chứng phương pháp chọn checkpoint khách quan theo Validation Loss (Epoch 2).</a:t>
            </a:r>
          </a:p>
          <a:p/>
          <a:p>
            <a:r>
              <a:t>3. Ở quy mô nhỏ 10k: CNN (97.60%) thấp hơn SVM Deskew+PCA (97.97%), chứng minh CNN chỉ phát huy uy lực khi có đủ dữ liệu huấn luyện.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A2EB"/>
                </a:solidFill>
              </a:defRPr>
            </a:pPr>
            <a:r>
              <a:t>MÔN NHẬN DẠNG MẪU — NHÓM 03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PHÂN TÍCH MA TRẬN NHẦM LẪN (CONFUSION MATRIX)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Xu hướng sai số trên ma trận nhầm lẫn:</a:t>
            </a:r>
          </a:p>
          <a:p/>
          <a:p>
            <a:r>
              <a:t>1. Cặp chữ số (4 - 9): Tần suất nhầm lẫn cao nhất do chữ số 4 viết khép kín đỉnh tạo thành vòng tròn như số 9.</a:t>
            </a:r>
          </a:p>
          <a:p/>
          <a:p>
            <a:r>
              <a:t>2. Cặp chữ số (3 - 5): Phần cung cong uốn lượn nửa dưới tương đồng nhau.</a:t>
            </a:r>
          </a:p>
          <a:p/>
          <a:p>
            <a:r>
              <a:t>3. Cặp chữ số (7 - 1): Số 7 khi thiếu nét gạch ngang phụ giữa thân có hình dáng thẳng đứng như số 1.</a:t>
            </a:r>
          </a:p>
          <a:p/>
          <a:p>
            <a:r>
              <a:t>• Mô hình Modern CNN đạt độ chính xác &gt;98.5% đồng đều cho tất cả 10 lớp chữ số.</a:t>
            </a:r>
          </a:p>
        </p:txBody>
      </p:sp>
      <p:pic>
        <p:nvPicPr>
          <p:cNvPr id="4" name="Picture 3" descr="cm_modern_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49274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A2EB"/>
                </a:solidFill>
              </a:defRPr>
            </a:pPr>
            <a:r>
              <a:t>MÔN NHẬN DẠNG MẪU — NHÓM 03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PHÂN TÍCH CHUYÊN SÂU 81 MẪU SAI CỦA MODERN 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Phân loại nguyên nhân của 81 ca phân loại sai:</a:t>
            </a:r>
          </a:p>
          <a:p/>
          <a:p>
            <a:r>
              <a:t>1. Nhiễu nhãn gán sai trong tập gốc (Label Noise):</a:t>
            </a:r>
          </a:p>
          <a:p>
            <a:r>
              <a:t>   - Tiêu biểu mẫu test #445 (ảnh là chữ số 6 rõ ràng nhưng nhãn ghi 0); mẫu test #2130 (ảnh là 9 nhưng nhãn ghi 4). Mô hình CNN thực chất đã nhận diện đúng dạng thị giác.</a:t>
            </a:r>
          </a:p>
          <a:p/>
          <a:p>
            <a:r>
              <a:t>2. Chữ số cực kỳ mơ hồ (Ambiguous Samples):</a:t>
            </a:r>
          </a:p>
          <a:p>
            <a:r>
              <a:t>   - Nét viết cẩu thả, đứt đoạn, mắt người bình thường cũng không thể khẳng định chắc chắn 100%.</a:t>
            </a:r>
          </a:p>
          <a:p/>
          <a:p>
            <a:r>
              <a:t>3. Biến dạng hình học dị biệt (Outliers):</a:t>
            </a:r>
          </a:p>
          <a:p>
            <a:r>
              <a:t>   - Nét viết quá dày hoặc quá dị thường khiến tâm khối lượng bị lệch.</a:t>
            </a:r>
          </a:p>
        </p:txBody>
      </p:sp>
      <p:pic>
        <p:nvPicPr>
          <p:cNvPr id="4" name="Picture 3" descr="errors_modern_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49402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A2EB"/>
                </a:solidFill>
              </a:defRPr>
            </a:pPr>
            <a:r>
              <a:t>MÔN NHẬN DẠNG MẪU — NHÓM 03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TRẢ LỜI CÂU HỎI NGHIÊN CỨU KHOA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ĐẶC TRƯNG NÀO HIỆU QUẢ NHẤT CHO ML TRUYỀN THỐNG (RQ1)?</a:t>
            </a:r>
          </a:p>
          <a:p>
            <a:r>
              <a:t>   • Deskewed + PCA (112D) dẫn đầu nhóm A với 97.97% độ chính xác (sai 203 ảnh trên 10k test, Macro F1: 97.96%).</a:t>
            </a:r>
          </a:p>
          <a:p>
            <a:r>
              <a:t>   • Nắn thẳng nén chiều giúp loại bỏ triệt để biến thiên góc nghiêng và giảm 7 lần số chiều dữ liệu.</a:t>
            </a:r>
          </a:p>
          <a:p/>
          <a:p>
            <a:r>
              <a:t>2. THUẬT TOÁN KINH ĐIỂN NÀO TỐT NHẤT TRÊN RAW PIXELS (RQ2)?</a:t>
            </a:r>
          </a:p>
          <a:p>
            <a:r>
              <a:t>   • SVM nhân RBF đạt 96.86%, kế tiếp là Random Forest 150 cây (95.28%) và k-NN (95.17%).</a:t>
            </a:r>
          </a:p>
          <a:p>
            <a:r>
              <a:t>   • Linear SVM đạt 90.79% khi tối ưu điều chuẩn C=0.01 (cải thiện rõ rệt so với C=1.0 đạt 89.34%).</a:t>
            </a:r>
          </a:p>
          <a:p>
            <a:r>
              <a:t>   • Gaussian Naive Bayes đạt 55.80% do vi phạm giả định độc lập không gian.</a:t>
            </a:r>
          </a:p>
          <a:p/>
          <a:p>
            <a:r>
              <a:t>3. ƯU THẾ CỦA DEEP LEARNING TRÊN DỮ LIỆU LỚN (RQ3)?</a:t>
            </a:r>
          </a:p>
          <a:p>
            <a:r>
              <a:t>   • Modern CNN đạt 99.19% (Macro F1: 99.18%, chỉ sai 81 ảnh trên 10.000 ảnh test).</a:t>
            </a:r>
          </a:p>
          <a:p>
            <a:r>
              <a:t>   • Độ trễ suy luận siêu tốc (0.516 ms/ảnh đơn lẻ, 0.106 ms/ảnh theo batch), checkpoint chỉ 0.62 MB.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A2EB"/>
                </a:solidFill>
              </a:defRPr>
            </a:pPr>
            <a:r>
              <a:t>MÔN NHẬN DẠNG MẪU — NHÓM 03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ỨNG DỤNG DEMO WEB TƯƠNG TÁC THỜI GIAN THỰC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Kiến trúc sản phẩm: Tầng giao diện HTML5 Canvas Glassmorphism + Tầng dịch vụ Backend FastAPI.</a:t>
            </a:r>
          </a:p>
          <a:p/>
          <a:p>
            <a:r>
              <a:t>• Các tính năng nổi bật:</a:t>
            </a:r>
          </a:p>
          <a:p>
            <a:r>
              <a:t>   - Bảng vẽ tương tác thời gian thực với giải thuật làm mịn nét vẽ đường cong Bessel.</a:t>
            </a:r>
          </a:p>
          <a:p>
            <a:r>
              <a:t>   - Pipeline tiền xử lý quang học Center of Mass: Căn tâm chữ số chuẩn xác vào tọa độ (14, 14) như chuẩn NIST.</a:t>
            </a:r>
          </a:p>
          <a:p>
            <a:r>
              <a:t>   - Hỗ trợ lựa chọn linh hoạt giữa các mô hình (Modern CNN, SVM Deskew+PCA, SVM PCA, k-NN, Naive Bayes).</a:t>
            </a:r>
          </a:p>
          <a:p>
            <a:r>
              <a:t>   - Xử lý lỗi minh bạch: Bảng vẽ trống báo -1, yêu cầu mô hình không tồn tại trả mã HTTP 404.</a:t>
            </a:r>
          </a:p>
          <a:p>
            <a:r>
              <a:t>   - Bảng 10 mẫu test chuẩn từ MNIST Test Set cho phép kiểm thử nhanh chóng và đối chiếu.</a:t>
            </a:r>
          </a:p>
          <a:p/>
          <a:p>
            <a:r>
              <a:t>• Khởi động máy chủ bằng lệnh duy nhất: python run_app.py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A2EB"/>
                </a:solidFill>
              </a:defRPr>
            </a:pPr>
            <a:r>
              <a:t>MÔN NHẬN DẠNG MẪU — NHÓM 03</a:t>
            </a:r>
          </a:p>
          <a:p>
            <a:pPr>
              <a:defRPr sz="2200" b="1">
                <a:solidFill>
                  <a:srgbClr val="102C57"/>
                </a:solidFill>
              </a:defRPr>
            </a:pPr>
            <a:r>
              <a:t>KẾT LUẬN &amp; ĐÓNG GÓP CỦA ĐỒ 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Hoàn thành đầy đủ 100% mục tiêu nghiên cứu và các yêu cầu kỹ thuật của bài tập lớn.</a:t>
            </a:r>
          </a:p>
          <a:p/>
          <a:p>
            <a:r>
              <a:t>• Đóng góp khoa học và kỹ thuật chính:</a:t>
            </a:r>
          </a:p>
          <a:p>
            <a:r>
              <a:t>   - Quy trình thực nghiệm Zero Leakage chặt chẽ, tối ưu siêu tham số trên Validation độc lập.</a:t>
            </a:r>
          </a:p>
          <a:p>
            <a:r>
              <a:t>   - Đối chuẩn công bằng 10 mô hình thực nghiệm, lưu vết checkpoint và log đo lường rõ ràng.</a:t>
            </a:r>
          </a:p>
          <a:p>
            <a:r>
              <a:t>   - Giải mã chi tiết cơ chế sai lệch của 81 mẫu phân loại sai của mô hình Modern CNN (99.19%).</a:t>
            </a:r>
          </a:p>
          <a:p>
            <a:r>
              <a:t>   - Ứng dụng Web tương tác hoàn chỉnh và bộ kiểm thử tự động 28 test cases đạt tỷ lệ vượt qua 100%.</a:t>
            </a:r>
          </a:p>
          <a:p/>
          <a:p>
            <a:r>
              <a:t>• Hồ sơ bàn giao đầy đủ:</a:t>
            </a:r>
          </a:p>
          <a:p>
            <a:r>
              <a:t>   - Báo cáo kỹ thuật Word (.docx) &amp; PDF 28 trang chuẩn khoa học.</a:t>
            </a:r>
          </a:p>
          <a:p>
            <a:r>
              <a:t>   - Bộ Slide thuyết trình PowerPoint (.pptx).</a:t>
            </a:r>
          </a:p>
          <a:p>
            <a:r>
              <a:t>   - Mã nguồn chuẩn hóa, module hóa cao trên GitHub.</a:t>
            </a:r>
          </a:p>
          <a:p/>
          <a:p>
            <a:r>
              <a:t>TRÂN TRỌNG CẢM ƠN QUÝ THẦY CÔ VÀ CÁC BẠN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